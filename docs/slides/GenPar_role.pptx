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COLLABORATION  ·  TOP QUARK PHYSICS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Truth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GenPar() reconstructs ttbar event topology from generator-level particles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82880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166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CMSSW EDAnalyzer plugin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MiniAOD → flat ntuple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Run-2 ttbar / CPV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THIS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5166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role, not implementation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the analyst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CPV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output is not analysis-ready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MiniAOD stores hundreds of generator particles per ttbar event. The same physical top quark appears multiple times with different status codes as PYTHIA / HERWIG track radiation, recoil, and decay. The analyst cannot directly ask "what is the pT of the top?" — there are several copies, and the relationships between them are buried in mother / daughter pointers.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91840"/>
            <a:ext cx="352044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copies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4846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top can appear as status 22, 44, 62 — same particle, different stage of evolution. Which one is the "physics" top?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329184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3291840"/>
            <a:ext cx="352044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00600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dependence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4846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 and HERWIG use different status code conventions. An analysis must work identically on both — but the raw codes don't.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3291840"/>
            <a:ext cx="3520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291840"/>
            <a:ext cx="3520440" cy="731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8549640" y="3566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549640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Decay chains hidden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49640" y="48463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lepton you reconstruct came from W⁺ from t — or from W⁻ from t̄? Or from a τ? This must be resolved unambiguously.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clean, fixed-position ttbar family tree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ttbar event, regardless of generator, is reduced to the same 12-slot array. Slot index alone tells the analyst which particle came from where.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2651760"/>
            <a:ext cx="12801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95360" y="2651760"/>
            <a:ext cx="12801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0" y="2697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3657600"/>
            <a:ext cx="1280160" cy="640080"/>
          </a:xfrm>
          <a:prstGeom prst="rect">
            <a:avLst/>
          </a:prstGeom>
          <a:solidFill>
            <a:srgbClr val="FDECEE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703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4023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95360" y="3657600"/>
            <a:ext cx="1280160" cy="640080"/>
          </a:xfrm>
          <a:prstGeom prst="rect">
            <a:avLst/>
          </a:prstGeom>
          <a:solidFill>
            <a:srgbClr val="FDECEE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3703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4023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4663440"/>
            <a:ext cx="1280160" cy="640080"/>
          </a:xfrm>
          <a:prstGeom prst="rect">
            <a:avLst/>
          </a:prstGeom>
          <a:solidFill>
            <a:srgbClr val="E8EEF7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4663440"/>
            <a:ext cx="1280160" cy="640080"/>
          </a:xfrm>
          <a:prstGeom prst="rect">
            <a:avLst/>
          </a:prstGeom>
          <a:solidFill>
            <a:srgbClr val="E8EEF7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749040" y="5029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4663440"/>
            <a:ext cx="1280160" cy="640080"/>
          </a:xfrm>
          <a:prstGeom prst="rect">
            <a:avLst/>
          </a:prstGeom>
          <a:solidFill>
            <a:srgbClr val="E8EEF7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5029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058400" y="4663440"/>
            <a:ext cx="1280160" cy="640080"/>
          </a:xfrm>
          <a:prstGeom prst="rect">
            <a:avLst/>
          </a:prstGeom>
          <a:solidFill>
            <a:srgbClr val="E8EEF7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0" y="50292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7160" y="5669280"/>
            <a:ext cx="1097280" cy="640080"/>
          </a:xfrm>
          <a:prstGeom prst="rect">
            <a:avLst/>
          </a:prstGeom>
          <a:solidFill>
            <a:srgbClr val="F5F2EC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5715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ℓ⁺ / q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" y="6035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8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0" y="5669280"/>
            <a:ext cx="1097280" cy="640080"/>
          </a:xfrm>
          <a:prstGeom prst="rect">
            <a:avLst/>
          </a:prstGeom>
          <a:solidFill>
            <a:srgbClr val="F5F2EC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5715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 / q̄'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71600" y="6035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9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46520" y="5669280"/>
            <a:ext cx="1097280" cy="640080"/>
          </a:xfrm>
          <a:prstGeom prst="rect">
            <a:avLst/>
          </a:prstGeom>
          <a:solidFill>
            <a:srgbClr val="F5F2EC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5715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ℓ⁻ / q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6520" y="6035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680960" y="5669280"/>
            <a:ext cx="1097280" cy="640080"/>
          </a:xfrm>
          <a:prstGeom prst="rect">
            <a:avLst/>
          </a:prstGeom>
          <a:solidFill>
            <a:srgbClr val="F5F2EC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5715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ν̄ / q̄'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80960" y="6035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26080" y="3291840"/>
            <a:ext cx="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35440" y="3291840"/>
            <a:ext cx="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4297680"/>
            <a:ext cx="-1463040" cy="36576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26080" y="4297680"/>
            <a:ext cx="1463040" cy="36576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35440" y="4297680"/>
            <a:ext cx="-1463040" cy="36576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35440" y="4297680"/>
            <a:ext cx="1463040" cy="36576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5303520"/>
            <a:ext cx="-77724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5303520"/>
            <a:ext cx="45720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5303520"/>
            <a:ext cx="-77724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0" y="5303520"/>
            <a:ext cx="457200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filled, the analyst writes top.pt = GenPar[2].pt — no ambiguity, no string matching, no generator branching.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SIGNAL VS 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function, two strategies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inspects the event for a top–antitop pair. The presence (or absence) of both flips the bookkeeping strategy.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7440"/>
            <a:ext cx="534924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 —  ttbar found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isSignal = true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12-slot array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positions for p, p, t, t̄, W±, b, b̄, and the four boson daughters.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Charge-correlated daughters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ℓ⁺ν from W⁺ from t  ·  ℓ⁻ν̄ from W⁻ from t̄. Slot index encodes the lineage.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 observables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products, angular asymmetries, lepton charge asymmetries — all become one-line expressions over slot indices.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377440"/>
            <a:ext cx="5349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377440"/>
            <a:ext cx="5349240" cy="5029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3774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 —  no ttbar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2084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isSignal = false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5661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 list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bosons (Z, W, H) are present, plus their leptonic daughters.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downstream interface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TTree branch names. Analyst code that loops over GenPar works for DY, W+jets, single-top alike.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index still produced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→ ℓℓ, W → ℓν tagged identically — useful for control regions and validation samples.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CHANNEL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ttbar decay channel as a single integer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Channel_Idx — the analyst's primary event tag for splitting the sample, applying scale factors, and orthogonalizing systematic studies.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1069848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1463040"/>
                <a:gridCol w="182880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Channel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Lepton content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Channel_Idx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Branching ratio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Use in CPV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All-hadronic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ℓ from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QCD background-dominated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ℓ + jets (e)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 ± from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signal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ℓ + jets (μ)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μ ± from 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signal region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Dilepton 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low statistics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Dilepton eμ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 + 1 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spin-correlation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Dilepton μμ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low statistics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τ-involved (e.g. eτ, μτ, ττ)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→ τν (τ decay not resolved)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idx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separately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669280"/>
            <a:ext cx="5212080" cy="9601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5669280"/>
            <a:ext cx="73152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Channel_Lepton_Count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6035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leptons directly from W decay — separates 0/1/2-lepton final states without re-running the chain.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5669280"/>
            <a:ext cx="5212080" cy="9601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5669280"/>
            <a:ext cx="73152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5760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Channel_Idx_Final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0" y="6035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Channel_Idx is at the W-decay level (τ not resolved). Channel_Idx_Final follows τ → e / μ / hadrons, so W→τ events migrate from the negative-idx bin into their visible final states.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CONNECTION TO CPV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CP violation analysis can't live without 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CP-asymmetry observables in top decays are tiny ( O(10⁻³) ). Any mis-assignment of which lepton came from which top biases the asymmetry by far more than the signal. Generator-level truth is the calibration anchor.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3520440" cy="3383280"/>
          </a:xfrm>
          <a:prstGeom prst="rect">
            <a:avLst/>
          </a:prstGeom>
          <a:solidFill>
            <a:srgbClr val="1E3A5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MATCHING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Top-charge tagging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51560" y="4434840"/>
            <a:ext cx="5486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6177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reconstructed b-jet, lepton, and neutrino to either the top or anti-top hemisphere. Required for sign-sensitive CP observables.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834640"/>
            <a:ext cx="3520440" cy="3383280"/>
          </a:xfrm>
          <a:prstGeom prst="rect">
            <a:avLst/>
          </a:prstGeom>
          <a:solidFill>
            <a:srgbClr val="1E3A5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BUILD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products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00600" y="4434840"/>
            <a:ext cx="5486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6177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like (pℓ⁺ × pb) · pℓ⁻ are CP-odd by construction. Computing them requires knowing which lepton is positive and which b is from 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834640"/>
            <a:ext cx="3520440" cy="3383280"/>
          </a:xfrm>
          <a:prstGeom prst="rect">
            <a:avLst/>
          </a:prstGeom>
          <a:solidFill>
            <a:srgbClr val="1E3A5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31089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4964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 ↔ truth map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549640" y="4434840"/>
            <a:ext cx="5486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46177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response matrix needs a clean parton-level definition. The 12-slot array is the parton-level reference frame for every event.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sentence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28800"/>
            <a:ext cx="109728" cy="1463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GenPar() turns the messy generator record into a clean parton-level event description that the rest of the analysis can rely on without thinking about hadronizers, status codes, or copy chains.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60120" y="5029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slots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structure across PYTHIA, HERWIG, NLO, 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3840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749040" y="5029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integer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channel, lepton count, tau bookkeeping in one number.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537960" y="5029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branches in user code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never re-implement status code logic.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3840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4069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↻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9326880" y="5029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5440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MC, background MC, validation — same interface.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 ·  ttbar  ·  CPV  ·  GenPar() role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GenPar() Function — CMS Analysis Perspective</dc:title>
  <dc:subject>PptxGenJS Presentation</dc:subject>
  <dc:creator>CMS ttbar Analysis</dc:creator>
  <cp:lastModifiedBy>CMS ttbar Analysis</cp:lastModifiedBy>
  <cp:revision>1</cp:revision>
  <dcterms:created xsi:type="dcterms:W3CDTF">2026-05-08T01:38:28Z</dcterms:created>
  <dcterms:modified xsi:type="dcterms:W3CDTF">2026-05-08T01:38:28Z</dcterms:modified>
</cp:coreProperties>
</file>